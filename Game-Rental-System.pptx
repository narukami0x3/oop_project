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Libre Baskerville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31FD75-3F27-4CE6-B1E4-1A63B452060C}">
  <a:tblStyle styleId="{7431FD75-3F27-4CE6-B1E4-1A63B452060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ibreBaskerville-bold.fntdata"/><Relationship Id="rId16" Type="http://schemas.openxmlformats.org/officeDocument/2006/relationships/font" Target="fonts/LibreBaskervill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ibreBaskerville-boldItalic.fntdata"/><Relationship Id="rId6" Type="http://schemas.openxmlformats.org/officeDocument/2006/relationships/slide" Target="slides/slide1.xml"/><Relationship Id="rId18" Type="http://schemas.openxmlformats.org/officeDocument/2006/relationships/font" Target="fonts/LibreBaskervill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th-TH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496119" y="1991469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th-TH" sz="27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Game Rental System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96119" y="2491160"/>
            <a:ext cx="4722763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ระบบเช่าเกม — เขียนด้วยภาษา Java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96119" y="2925217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นาย นฤดม ณ นคร  |  รหัส 69319010006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496119" y="753740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th-TH" sz="27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ภาพรวมโปรเจกต์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96119" y="1480245"/>
            <a:ext cx="2622724" cy="1383878"/>
          </a:xfrm>
          <a:prstGeom prst="roundRect">
            <a:avLst>
              <a:gd fmla="val 153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637877" y="1622003"/>
            <a:ext cx="425276" cy="425276"/>
          </a:xfrm>
          <a:prstGeom prst="ellipse">
            <a:avLst/>
          </a:prstGeom>
          <a:solidFill>
            <a:srgbClr val="595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56" y="1738908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637877" y="2189038"/>
            <a:ext cx="23392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Register Customer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637877" y="2495550"/>
            <a:ext cx="233920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สมัครสมาชิก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260601" y="1480245"/>
            <a:ext cx="2622724" cy="1383878"/>
          </a:xfrm>
          <a:prstGeom prst="roundRect">
            <a:avLst>
              <a:gd fmla="val 153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402360" y="1622003"/>
            <a:ext cx="425276" cy="425276"/>
          </a:xfrm>
          <a:prstGeom prst="ellipse">
            <a:avLst/>
          </a:prstGeom>
          <a:solidFill>
            <a:srgbClr val="595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9339" y="1738908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3402360" y="2189038"/>
            <a:ext cx="23392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View Games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402360" y="2495550"/>
            <a:ext cx="233920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แสดงรายการเกม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025083" y="1480245"/>
            <a:ext cx="2622724" cy="1383878"/>
          </a:xfrm>
          <a:prstGeom prst="roundRect">
            <a:avLst>
              <a:gd fmla="val 153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166842" y="1622003"/>
            <a:ext cx="425276" cy="425276"/>
          </a:xfrm>
          <a:prstGeom prst="ellipse">
            <a:avLst/>
          </a:prstGeom>
          <a:solidFill>
            <a:srgbClr val="595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3821" y="1738908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6166842" y="2189038"/>
            <a:ext cx="233920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Rent Game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166842" y="2495550"/>
            <a:ext cx="233920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เช่าเกม + คำนวณค่าเช่า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96119" y="3005882"/>
            <a:ext cx="4004965" cy="1383878"/>
          </a:xfrm>
          <a:prstGeom prst="roundRect">
            <a:avLst>
              <a:gd fmla="val 153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37877" y="3147640"/>
            <a:ext cx="425276" cy="425276"/>
          </a:xfrm>
          <a:prstGeom prst="ellipse">
            <a:avLst/>
          </a:prstGeom>
          <a:solidFill>
            <a:srgbClr val="595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856" y="3264545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637877" y="3714676"/>
            <a:ext cx="37214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Return Game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37877" y="4021187"/>
            <a:ext cx="372144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คืนเกม + ตรวจค่าปรับ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642842" y="3005882"/>
            <a:ext cx="4004965" cy="1383878"/>
          </a:xfrm>
          <a:prstGeom prst="roundRect">
            <a:avLst>
              <a:gd fmla="val 153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784601" y="3147640"/>
            <a:ext cx="425276" cy="425276"/>
          </a:xfrm>
          <a:prstGeom prst="ellipse">
            <a:avLst/>
          </a:prstGeom>
          <a:solidFill>
            <a:srgbClr val="595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1580" y="3264545"/>
            <a:ext cx="191319" cy="19131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4784601" y="3714676"/>
            <a:ext cx="37214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Keyboard Input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784601" y="4021187"/>
            <a:ext cx="372144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รับข้อมูลผ่าน Console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th-TH" sz="27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โครงสร้างระบบ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85392"/>
            <a:ext cx="2628230" cy="262823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3474988" y="1677293"/>
            <a:ext cx="517758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Layered Architecture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988" y="2058219"/>
            <a:ext cx="1631305" cy="204571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3711997" y="2219027"/>
            <a:ext cx="1233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711997" y="2582242"/>
            <a:ext cx="1233488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จุดเริ่มต้นโปรแกรม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8052" y="2058219"/>
            <a:ext cx="1631379" cy="204571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5485061" y="2219027"/>
            <a:ext cx="1233562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GameRentalSystem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5061" y="2803699"/>
            <a:ext cx="1233562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จัดการการทำงานของระบบ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1190" y="2058219"/>
            <a:ext cx="1631379" cy="204571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7258199" y="2219027"/>
            <a:ext cx="12335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Layer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7258199" y="2582242"/>
            <a:ext cx="1233562" cy="136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Person, Customer, Game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(PCGame, ConsoleGame, BoardGame)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Rental, 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496119" y="398859"/>
            <a:ext cx="8151763" cy="304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900"/>
              <a:buFont typeface="Libre Baskerville"/>
              <a:buNone/>
            </a:pPr>
            <a:r>
              <a:rPr b="0" i="0" lang="th-TH" sz="19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ความสัมพันธ์ของ Class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879202"/>
            <a:ext cx="3517478" cy="379005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4695602" y="1753716"/>
            <a:ext cx="3957042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การเชื่อมโยงระหว่าง Class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139" y="1984325"/>
            <a:ext cx="146149" cy="14614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5012234" y="1981349"/>
            <a:ext cx="3640410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Inheritance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5012234" y="2200573"/>
            <a:ext cx="3640410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Customer extends Person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139" y="2469059"/>
            <a:ext cx="146149" cy="1461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7"/>
          <p:cNvSpPr/>
          <p:nvPr/>
        </p:nvSpPr>
        <p:spPr>
          <a:xfrm>
            <a:off x="5012234" y="2466082"/>
            <a:ext cx="3640410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Inheritance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012234" y="2685306"/>
            <a:ext cx="3640410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PCGame, ConsoleGame, BoardGame</a:t>
            </a: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extends </a:t>
            </a:r>
            <a:r>
              <a:rPr b="0" i="0" lang="th-TH" sz="7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Game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139" y="2953792"/>
            <a:ext cx="146149" cy="1461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5012234" y="2950815"/>
            <a:ext cx="3640410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Association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012234" y="3170039"/>
            <a:ext cx="3640410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Open San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Rental มี Customer, Game, Payment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139" y="3438525"/>
            <a:ext cx="146149" cy="1461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/>
          <p:nvPr/>
        </p:nvSpPr>
        <p:spPr>
          <a:xfrm>
            <a:off x="5012234" y="3435548"/>
            <a:ext cx="3640410" cy="152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Polymorphism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012234" y="3654772"/>
            <a:ext cx="3640410" cy="131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Open San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จัดการเกมหลายประเภทผ่าน </a:t>
            </a:r>
            <a:r>
              <a:rPr b="0" i="0" lang="th-TH" sz="7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ArrayList&lt;Game&gt;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496119" y="406822"/>
            <a:ext cx="8151763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100"/>
              <a:buFont typeface="Libre Baskerville"/>
              <a:buNone/>
            </a:pPr>
            <a:r>
              <a:rPr b="0" i="0" lang="th-TH" sz="21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OOP #1 — Encapsulation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496119" y="953691"/>
            <a:ext cx="3943499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050"/>
              <a:buFont typeface="Libre Baskerville"/>
              <a:buNone/>
            </a:pPr>
            <a:r>
              <a:rPr b="0" i="0" lang="th-TH" sz="10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ควบคุมข้อมูลภายใน Object อย่างไร?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496119" y="1206252"/>
            <a:ext cx="3943499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ใช้ </a:t>
            </a:r>
            <a:r>
              <a:rPr b="1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private fields</a:t>
            </a:r>
            <a:r>
              <a:rPr b="0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เพื่อไม่ให้แก้ไขโดยตรงจากภายนอก และใช้ </a:t>
            </a:r>
            <a:r>
              <a:rPr b="1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Method</a:t>
            </a:r>
            <a:r>
              <a:rPr b="0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ควบคุมการเปลี่ยนแปลงสถานะอย่างปลอดภัย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4709145" y="964109"/>
            <a:ext cx="3943499" cy="2995910"/>
          </a:xfrm>
          <a:prstGeom prst="roundRect">
            <a:avLst>
              <a:gd fmla="val 543" name="adj"/>
            </a:avLst>
          </a:prstGeom>
          <a:solidFill>
            <a:srgbClr val="EE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4839370" y="1072604"/>
            <a:ext cx="3683050" cy="27789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Game.java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private boolean available;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public boolean rent()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if (!available) return false;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available = false; // ✓ ควบคุมการเปลี่ยนแปลง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return 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public boolean returnGame() {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if (available) return false;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available = true;  // ✓ คืนสถานะอย่างปลอดภัย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return true;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850"/>
              <a:buFont typeface="Consolas"/>
              <a:buNone/>
            </a:pPr>
            <a:r>
              <a:rPr b="0" i="0" lang="th-TH" sz="8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96119" y="4146947"/>
            <a:ext cx="4034358" cy="589657"/>
          </a:xfrm>
          <a:prstGeom prst="roundRect">
            <a:avLst>
              <a:gd fmla="val 2761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604614" y="4255443"/>
            <a:ext cx="381736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Libre Baskerville"/>
              <a:buNone/>
            </a:pPr>
            <a:r>
              <a:rPr b="0" i="0" lang="th-TH" sz="10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private field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04614" y="4474815"/>
            <a:ext cx="3817367" cy="153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ไม่เปิดแก้ไขโดยตรง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613523" y="4146947"/>
            <a:ext cx="4034358" cy="589657"/>
          </a:xfrm>
          <a:prstGeom prst="roundRect">
            <a:avLst>
              <a:gd fmla="val 2761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4722019" y="4255443"/>
            <a:ext cx="3817367" cy="16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Libre Baskerville"/>
              <a:buNone/>
            </a:pPr>
            <a:r>
              <a:rPr b="0" i="0" lang="th-TH" sz="10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4722019" y="4474815"/>
            <a:ext cx="3817367" cy="153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Open Sans"/>
              <a:buNone/>
            </a:pPr>
            <a:r>
              <a:rPr b="0" i="0" lang="th-TH" sz="8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ควบคุมการเปลี่ยนแปลง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496119" y="428997"/>
            <a:ext cx="8151763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950"/>
              <a:buFont typeface="Libre Baskerville"/>
              <a:buNone/>
            </a:pPr>
            <a:r>
              <a:rPr b="0" i="0" lang="th-TH" sz="19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OOP #2 — Inheritance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96119" y="924371"/>
            <a:ext cx="3954289" cy="3071068"/>
          </a:xfrm>
          <a:prstGeom prst="roundRect">
            <a:avLst>
              <a:gd fmla="val 487" name="adj"/>
            </a:avLst>
          </a:prstGeom>
          <a:solidFill>
            <a:srgbClr val="EE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615702" y="1024012"/>
            <a:ext cx="3715122" cy="2871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Person.java (Parent)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public abstract class Person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protected String name;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protected String id;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Customer.java (Child)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public class Customer extends Person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private List&lt;Rental&gt; rentalHistory;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// เพิ่มความสามารถเฉพาะ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// Game.java (Parent)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public abstract class Game { ...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public class PCGame     extends Game { ...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public class ConsoleGame extends Game { ...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750"/>
              <a:buFont typeface="Consolas"/>
              <a:buNone/>
            </a:pPr>
            <a:r>
              <a:rPr b="0" i="0" lang="th-TH" sz="7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public class BoardGame   extends Game { ...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698355" y="915591"/>
            <a:ext cx="3954289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ใช้ Inheritance ตรงไหน?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698355" y="1141288"/>
            <a:ext cx="4411489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Open San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Class แม่เก็บคุณสมบัติร่วม เพื่อ</a:t>
            </a:r>
            <a:r>
              <a:rPr b="1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ลดการเขียน Code ซ้ำ</a:t>
            </a: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Class ลูกเพิ่มความสามารถเฉพาะของตัวเอง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4153049"/>
            <a:ext cx="4040832" cy="56138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/>
          <p:nvPr/>
        </p:nvSpPr>
        <p:spPr>
          <a:xfrm>
            <a:off x="667196" y="4266977"/>
            <a:ext cx="3755827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Person → Customer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67196" y="4464695"/>
            <a:ext cx="3755827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Open San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สืบทอด name, id และเพิ่ม rentalHistory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6975" y="4153049"/>
            <a:ext cx="4040907" cy="5613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/>
          <p:nvPr/>
        </p:nvSpPr>
        <p:spPr>
          <a:xfrm>
            <a:off x="4778053" y="4266977"/>
            <a:ext cx="3755901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Libre Baskerville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Game → PCGame / ConsoleGame / BoardGame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4778053" y="4464695"/>
            <a:ext cx="3755901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50"/>
              <a:buFont typeface="Open Sans"/>
              <a:buNone/>
            </a:pPr>
            <a:r>
              <a:rPr b="0" i="0" lang="th-TH" sz="7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สืบทอดคุณสมบัติเกมร่วม แต่ละประเภทมี Logic เฉพาะ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/>
          <p:nvPr/>
        </p:nvSpPr>
        <p:spPr>
          <a:xfrm>
            <a:off x="496119" y="404664"/>
            <a:ext cx="8151763" cy="235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450"/>
              <a:buFont typeface="Libre Baskerville"/>
              <a:buNone/>
            </a:pPr>
            <a:r>
              <a:rPr b="0" i="0" lang="th-TH" sz="14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OOP #3 — Abstraction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96119" y="739899"/>
            <a:ext cx="3984054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700"/>
              <a:buFont typeface="Libre Baskerville"/>
              <a:buNone/>
            </a:pPr>
            <a:r>
              <a:rPr b="0" i="0" lang="th-TH" sz="7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ซ่อนรายละเอียด กำหนดพฤติกรรมร่วม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96119" y="897508"/>
            <a:ext cx="4441254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Consolas"/>
              <a:buNone/>
            </a:pPr>
            <a:r>
              <a:rPr b="0" i="0" lang="th-TH" sz="5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abstract class Game</a:t>
            </a:r>
            <a:r>
              <a:rPr b="0" i="0" lang="th-TH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กำหนดโครงสร้างที่เกม</a:t>
            </a:r>
            <a:r>
              <a:rPr b="1" i="0" lang="th-TH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ทุกประเภท</a:t>
            </a:r>
            <a:r>
              <a:rPr b="0" i="0" lang="th-TH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ต้องมี แต่ละประเภทกำหนดรายละเอียดการคำนวณค่าเช่าเอง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96125" y="1120688"/>
            <a:ext cx="3841500" cy="3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Game.java — Abstract Class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public abstract class Game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protected String title;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protected double dailyRate;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protected boolean available;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public abstract double calculateRentalFee(int days);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Calibri"/>
              <a:buNone/>
            </a:pPr>
            <a:r>
              <a:t/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public abstract void showInfo();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b="0" i="0" lang="th-TH" sz="7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496119" y="4479206"/>
            <a:ext cx="169441" cy="169441"/>
          </a:xfrm>
          <a:prstGeom prst="roundRect">
            <a:avLst>
              <a:gd fmla="val 666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524321" y="4493307"/>
            <a:ext cx="112961" cy="14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Libre Baskerville"/>
              <a:buNone/>
            </a:pPr>
            <a:r>
              <a:rPr b="0" i="0" lang="th-TH" sz="8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05520" y="4505027"/>
            <a:ext cx="3841477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00"/>
              <a:buFont typeface="Libre Baskerville"/>
              <a:buNone/>
            </a:pPr>
            <a:r>
              <a:rPr b="0" i="0" lang="th-TH" sz="7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กำหนด Contract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705520" y="4646637"/>
            <a:ext cx="3841477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b="0" i="0" lang="th-TH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บังคับให้ทุก Subclass ต้อง implement </a:t>
            </a:r>
            <a:r>
              <a:rPr b="0" i="0" lang="th-TH" sz="5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calculateRentalFee()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4597003" y="4479206"/>
            <a:ext cx="169441" cy="169441"/>
          </a:xfrm>
          <a:prstGeom prst="roundRect">
            <a:avLst>
              <a:gd fmla="val 6667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4625206" y="4493307"/>
            <a:ext cx="112961" cy="14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850"/>
              <a:buFont typeface="Libre Baskerville"/>
              <a:buNone/>
            </a:pPr>
            <a:r>
              <a:rPr b="0" i="0" lang="th-TH" sz="8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4806404" y="4505027"/>
            <a:ext cx="3841477" cy="117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700"/>
              <a:buFont typeface="Libre Baskerville"/>
              <a:buNone/>
            </a:pPr>
            <a:r>
              <a:rPr b="0" i="0" lang="th-TH" sz="7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ซ่อน Implementation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4806404" y="4646637"/>
            <a:ext cx="3841477" cy="92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550"/>
              <a:buFont typeface="Open Sans"/>
              <a:buNone/>
            </a:pPr>
            <a:r>
              <a:rPr b="0" i="0" lang="th-TH" sz="5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ผู้ใช้งานไม่ต้องรู้ว่าแต่ละเกมคำนวณอย่างไร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6002400" y="2270650"/>
            <a:ext cx="315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4625200" y="1082688"/>
            <a:ext cx="3841500" cy="3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PCGame.java — Concrete Class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public class PCGame extends Game {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t/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calculateRentalFee(int days) {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return dailyRate * days * 1.0; // ✓ ราคาปกติ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t/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BoardGame.java — Concrete Class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public class BoardGame extends Game {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t/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public double calculateRentalFee(int days) {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    return dailyRate * days * 0.8; // ✓ ลด 20%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h-TH" sz="750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550"/>
              <a:buFont typeface="Consolas"/>
              <a:buNone/>
            </a:pPr>
            <a:r>
              <a:t/>
            </a:r>
            <a:endParaRPr sz="750">
              <a:solidFill>
                <a:srgbClr val="6A737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/>
          <p:nvPr/>
        </p:nvSpPr>
        <p:spPr>
          <a:xfrm>
            <a:off x="496119" y="407938"/>
            <a:ext cx="8151763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450"/>
              <a:buFont typeface="Libre Baskerville"/>
              <a:buNone/>
            </a:pPr>
            <a:r>
              <a:rPr b="0" i="0" lang="th-TH" sz="24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OOP #4 — Polymorphism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96119" y="1097607"/>
            <a:ext cx="3921844" cy="2676823"/>
          </a:xfrm>
          <a:prstGeom prst="roundRect">
            <a:avLst>
              <a:gd fmla="val 708" name="adj"/>
            </a:avLst>
          </a:prstGeom>
          <a:solidFill>
            <a:srgbClr val="EEE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647626" y="1223814"/>
            <a:ext cx="3618830" cy="242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GameRentalSystem.java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ArrayList&lt;Game&gt; games = new ArrayList&lt;&gt;();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games.add(new PCGame("Elden Ring", 50));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games.add(new ConsoleGame("FIFA 25", 40));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games.add(new BoardGame("Catan", 30));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 ✓ Method เดียวกัน ทำงานต่างกัน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for (Game game : games)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game.showInfo();           // เรียก Method ของ Object จริง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    game.calculateRentalFee(3); // คำนวณตามประเภทจริง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4730800" y="1083543"/>
            <a:ext cx="3921844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200"/>
              <a:buFont typeface="Libre Baskerville"/>
              <a:buNone/>
            </a:pPr>
            <a:r>
              <a:rPr b="0" i="0" lang="th-TH" sz="12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 เดียวกัน แต่ทำงานแตกต่างกัน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730800" y="1393254"/>
            <a:ext cx="3921844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Open Sans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Java เลือก Method ของ Object จริงโดยอัตโนมัติ ณ Runtime ทำให้จัดการเกมหลายประเภทด้วย Code ชุดเดียว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496119" y="4027438"/>
            <a:ext cx="2642295" cy="708050"/>
          </a:xfrm>
          <a:prstGeom prst="roundRect">
            <a:avLst>
              <a:gd fmla="val 2675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622325" y="4153644"/>
            <a:ext cx="2389882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th-TH" sz="12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PCGame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22325" y="4418335"/>
            <a:ext cx="2389882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showInfo()</a:t>
            </a:r>
            <a:r>
              <a:rPr b="0" i="0" lang="th-TH" sz="9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แสดง Spec PC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3250853" y="4027438"/>
            <a:ext cx="2642295" cy="708050"/>
          </a:xfrm>
          <a:prstGeom prst="roundRect">
            <a:avLst>
              <a:gd fmla="val 2675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3377059" y="4153644"/>
            <a:ext cx="2389882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th-TH" sz="12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ConsoleGame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3377059" y="4418335"/>
            <a:ext cx="2389882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showInfo()</a:t>
            </a:r>
            <a:r>
              <a:rPr b="0" i="0" lang="th-TH" sz="9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แสดง Platform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005587" y="4027438"/>
            <a:ext cx="2642295" cy="708050"/>
          </a:xfrm>
          <a:prstGeom prst="roundRect">
            <a:avLst>
              <a:gd fmla="val 2675" name="adj"/>
            </a:avLst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6131793" y="4153644"/>
            <a:ext cx="2389882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200"/>
              <a:buFont typeface="Libre Baskerville"/>
              <a:buNone/>
            </a:pPr>
            <a:r>
              <a:rPr b="0" i="0" lang="th-TH" sz="120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BoardGame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131793" y="4418335"/>
            <a:ext cx="2389882" cy="190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950"/>
              <a:buFont typeface="Consolas"/>
              <a:buNone/>
            </a:pPr>
            <a:r>
              <a:rPr b="0" i="0" lang="th-TH" sz="950" u="none" cap="none" strike="noStrike">
                <a:solidFill>
                  <a:srgbClr val="49495A"/>
                </a:solidFill>
                <a:highlight>
                  <a:srgbClr val="EEEDF2"/>
                </a:highlight>
                <a:latin typeface="Consolas"/>
                <a:ea typeface="Consolas"/>
                <a:cs typeface="Consolas"/>
                <a:sym typeface="Consolas"/>
              </a:rPr>
              <a:t>showInfo()</a:t>
            </a:r>
            <a:r>
              <a:rPr b="0" i="0" lang="th-TH" sz="9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แสดงจำนวนผู้เล่น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106263"/>
            <a:ext cx="3287316" cy="493097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/>
          <p:nvPr/>
        </p:nvSpPr>
        <p:spPr>
          <a:xfrm>
            <a:off x="496119" y="542851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50"/>
              <a:buFont typeface="Libre Baskerville"/>
              <a:buNone/>
            </a:pPr>
            <a:r>
              <a:rPr b="0" i="0" lang="th-TH" sz="27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การทำงานของระบบ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198438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/>
          <p:nvPr/>
        </p:nvSpPr>
        <p:spPr>
          <a:xfrm>
            <a:off x="1346671" y="1340197"/>
            <a:ext cx="387221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สมัครสมาชิก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346671" y="1646709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Register Customer → เลือก 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048991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/>
          <p:nvPr/>
        </p:nvSpPr>
        <p:spPr>
          <a:xfrm>
            <a:off x="1346671" y="2190750"/>
            <a:ext cx="387221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เลือกเกม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346671" y="2497262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เลือก Game → กำหนดจำนวนวัน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899544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2"/>
          <p:cNvSpPr/>
          <p:nvPr/>
        </p:nvSpPr>
        <p:spPr>
          <a:xfrm>
            <a:off x="1346671" y="3041303"/>
            <a:ext cx="387221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ชำระเงิน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1346671" y="3347814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เลือก Payment Method → สร้าง Rental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750097"/>
            <a:ext cx="708794" cy="85055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>
            <a:off x="1346671" y="3891855"/>
            <a:ext cx="387221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350"/>
              <a:buFont typeface="Libre Baskerville"/>
              <a:buNone/>
            </a:pPr>
            <a:r>
              <a:rPr b="0" i="0" lang="th-TH" sz="1350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คืนเกม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1346671" y="4198367"/>
            <a:ext cx="3872210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100"/>
              <a:buFont typeface="Open Sans"/>
              <a:buNone/>
            </a:pPr>
            <a:r>
              <a:rPr b="0" i="0" lang="th-TH" sz="11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Return Game → ตรวจสอบค่าปรับ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496119" y="470074"/>
            <a:ext cx="8151763" cy="429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00"/>
              <a:buFont typeface="Libre Baskerville"/>
              <a:buNone/>
            </a:pPr>
            <a:r>
              <a:rPr b="0" i="0" lang="th-TH" sz="27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สรุป — OOP ในโปรแกรม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13"/>
          <p:cNvGraphicFramePr/>
          <p:nvPr/>
        </p:nvGraphicFramePr>
        <p:xfrm>
          <a:off x="496119" y="116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{7431FD75-3F27-4CE6-B1E4-1A63B452060C}</a:tableStyleId>
              </a:tblPr>
              <a:tblGrid>
                <a:gridCol w="2717250"/>
                <a:gridCol w="2717250"/>
                <a:gridCol w="2717250"/>
              </a:tblGrid>
              <a:tr h="387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แนวคิด OOP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03CC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3C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Class / Method ที่ใช้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403CC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403CC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3C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ประโยชน์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403CC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03CCF"/>
                    </a:solidFill>
                  </a:tcPr>
                </a:tc>
              </a:tr>
              <a:tr h="3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Encapsulation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Consola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 available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rent()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returnGame()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ป้องกันการแก้ไขข้อมูลโดยตรง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</a:tr>
              <a:tr h="8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Inheritance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Consola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Customer extends PersonPCGame/ConsoleGame/BoardGame extends Game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ลด Code ซ้ำ แบ่งหน้าที่ชัดเจน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</a:tr>
              <a:tr h="606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Abstraction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Consola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abstract class Person, GamecalculateRentalFee()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กำหนด Contract บังคับ Subclass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</a:tr>
              <a:tr h="604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b="1"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Polymorphism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Consola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ArrayList&lt;Game&gt;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showInfo()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calculateRentalFee()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9495A"/>
                        </a:buClr>
                        <a:buSzPts val="1050"/>
                        <a:buFont typeface="Open Sans"/>
                        <a:buNone/>
                      </a:pPr>
                      <a:r>
                        <a:rPr lang="th-TH" sz="1050" u="none" cap="none" strike="noStrike">
                          <a:solidFill>
                            <a:srgbClr val="4949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Code ยืดหยุ่น รองรับประเภทใหม่ได้ง่าย</a:t>
                      </a:r>
                      <a:endParaRPr sz="1050" u="none" cap="none" strike="noStrike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775" marB="4775" marR="137325" marL="137325" anchor="ctr">
                    <a:lnL cap="flat" cmpd="sng" w="12700">
                      <a:solidFill>
                        <a:srgbClr val="FBFA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CE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F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13"/>
          <p:cNvSpPr/>
          <p:nvPr/>
        </p:nvSpPr>
        <p:spPr>
          <a:xfrm>
            <a:off x="496119" y="4135710"/>
            <a:ext cx="8151763" cy="537642"/>
          </a:xfrm>
          <a:prstGeom prst="roundRect">
            <a:avLst>
              <a:gd fmla="val 3832" name="adj"/>
            </a:avLst>
          </a:prstGeom>
          <a:solidFill>
            <a:srgbClr val="D7D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3" y="4325689"/>
            <a:ext cx="171599" cy="13729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3"/>
          <p:cNvSpPr/>
          <p:nvPr/>
        </p:nvSpPr>
        <p:spPr>
          <a:xfrm>
            <a:off x="942305" y="4302993"/>
            <a:ext cx="8025482" cy="216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Open Sans"/>
              <a:buNone/>
            </a:pPr>
            <a:r>
              <a:rPr b="1" i="0" lang="th-TH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ทั้ง 4 แนวคิด OOP ถูกนำมาใช้ร่วมกัน</a:t>
            </a:r>
            <a:r>
              <a:rPr b="0" i="0" lang="th-TH" sz="10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เพื่อให้ Code เป็นระบบ แยกหน้าที่ชัดเจน และขยายระบบได้ง่าย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8045975" y="4857200"/>
            <a:ext cx="1046400" cy="22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