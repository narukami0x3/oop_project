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Libre Baskerville"/>
      <p:regular r:id="rId201314"/>
    </p:embeddedFont>
    <p:embeddedFont>
      <p:font typeface="Libre Baskerville Bold"/>
      <p:regular r:id="rId201315"/>
    </p:embeddedFont>
    <p:embeddedFont>
      <p:font typeface="Open Sans Bold"/>
      <p:regular r:id="rId201316"/>
    </p:embeddedFont>
    <p:embeddedFont>
      <p:font typeface="Open Sans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2.png"/><Relationship Id="rId5" Type="http://schemas.openxmlformats.org/officeDocument/2006/relationships/image" Target="../media/image-3-3.svg"/><Relationship Id="rId6" Type="http://schemas.openxmlformats.org/officeDocument/2006/relationships/image" Target="../media/image-3-2.png"/><Relationship Id="rId7" Type="http://schemas.openxmlformats.org/officeDocument/2006/relationships/image" Target="../media/image-3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2.png"/><Relationship Id="rId5" Type="http://schemas.openxmlformats.org/officeDocument/2006/relationships/image" Target="../media/image-4-3.svg"/><Relationship Id="rId6" Type="http://schemas.openxmlformats.org/officeDocument/2006/relationships/image" Target="../media/image-4-2.png"/><Relationship Id="rId7" Type="http://schemas.openxmlformats.org/officeDocument/2006/relationships/image" Target="../media/image-4-3.svg"/><Relationship Id="rId8" Type="http://schemas.openxmlformats.org/officeDocument/2006/relationships/image" Target="../media/image-4-2.png"/><Relationship Id="rId9" Type="http://schemas.openxmlformats.org/officeDocument/2006/relationships/image" Target="../media/image-4-3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1.png"/><Relationship Id="rId4" Type="http://schemas.openxmlformats.org/officeDocument/2006/relationships/image" Target="../media/image-6-2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AE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2655292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Game Rental System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3321546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8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ระบบเช่าเกม — เขียนด้วยภาษา Java</a:t>
            </a:r>
            <a:endParaRPr lang="th-TH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3900289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นาย นฤดม ณ นคร  |  รหัส 69319010006</a:t>
            </a:r>
            <a:endParaRPr lang="th-TH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0498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37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ภาพรวมโปรเจกต์</a:t>
            </a:r>
            <a:endParaRPr lang="th-TH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1973659"/>
            <a:ext cx="3496877" cy="1845171"/>
          </a:xfrm>
          <a:prstGeom prst="roundRect">
            <a:avLst>
              <a:gd name="adj" fmla="val 1537"/>
            </a:avLst>
          </a:prstGeom>
          <a:solidFill>
            <a:srgbClr val="EAE8F3"/>
          </a:solidFill>
          <a:ln/>
        </p:spPr>
      </p:sp>
      <p:sp>
        <p:nvSpPr>
          <p:cNvPr id="4" name="Shape 2"/>
          <p:cNvSpPr/>
          <p:nvPr/>
        </p:nvSpPr>
        <p:spPr>
          <a:xfrm>
            <a:off x="850482" y="2162671"/>
            <a:ext cx="567021" cy="567035"/>
          </a:xfrm>
          <a:prstGeom prst="ellipse">
            <a:avLst/>
          </a:prstGeom>
          <a:solidFill>
            <a:srgbClr val="5955E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450" y="2318544"/>
            <a:ext cx="255085" cy="255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482" y="2918718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Register Customer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3327400"/>
            <a:ext cx="311886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สมัครสมาชิก</a:t>
            </a:r>
            <a:endParaRPr lang="th-TH" sz="1450" dirty="0"/>
          </a:p>
        </p:txBody>
      </p:sp>
      <p:sp>
        <p:nvSpPr>
          <p:cNvPr id="8" name="Shape 5"/>
          <p:cNvSpPr/>
          <p:nvPr/>
        </p:nvSpPr>
        <p:spPr>
          <a:xfrm>
            <a:off x="4347359" y="1973659"/>
            <a:ext cx="3496877" cy="1845171"/>
          </a:xfrm>
          <a:prstGeom prst="roundRect">
            <a:avLst>
              <a:gd name="adj" fmla="val 1537"/>
            </a:avLst>
          </a:prstGeom>
          <a:solidFill>
            <a:srgbClr val="EAE8F3"/>
          </a:solidFill>
          <a:ln/>
        </p:spPr>
      </p:sp>
      <p:sp>
        <p:nvSpPr>
          <p:cNvPr id="9" name="Shape 6"/>
          <p:cNvSpPr/>
          <p:nvPr/>
        </p:nvSpPr>
        <p:spPr>
          <a:xfrm>
            <a:off x="4536366" y="2162671"/>
            <a:ext cx="567021" cy="567035"/>
          </a:xfrm>
          <a:prstGeom prst="ellipse">
            <a:avLst/>
          </a:prstGeom>
          <a:solidFill>
            <a:srgbClr val="5955E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2334" y="2318544"/>
            <a:ext cx="255085" cy="2550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36366" y="2918718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View Games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4536366" y="3327400"/>
            <a:ext cx="311886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แสดงรายการเกม</a:t>
            </a:r>
            <a:endParaRPr lang="th-TH" sz="1450" dirty="0"/>
          </a:p>
        </p:txBody>
      </p:sp>
      <p:sp>
        <p:nvSpPr>
          <p:cNvPr id="13" name="Shape 9"/>
          <p:cNvSpPr/>
          <p:nvPr/>
        </p:nvSpPr>
        <p:spPr>
          <a:xfrm>
            <a:off x="8033244" y="1973659"/>
            <a:ext cx="3496877" cy="1845171"/>
          </a:xfrm>
          <a:prstGeom prst="roundRect">
            <a:avLst>
              <a:gd name="adj" fmla="val 1537"/>
            </a:avLst>
          </a:prstGeom>
          <a:solidFill>
            <a:srgbClr val="EAE8F3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2251" y="2162671"/>
            <a:ext cx="567021" cy="567035"/>
          </a:xfrm>
          <a:prstGeom prst="ellipse">
            <a:avLst/>
          </a:prstGeom>
          <a:solidFill>
            <a:srgbClr val="5955E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78219" y="2318544"/>
            <a:ext cx="255085" cy="2550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2251" y="2918718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Rent Game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8222251" y="3327400"/>
            <a:ext cx="3118863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เช่าเกม + คำนวณค่าเช่า</a:t>
            </a:r>
            <a:endParaRPr lang="th-TH" sz="1450" dirty="0"/>
          </a:p>
        </p:txBody>
      </p:sp>
      <p:sp>
        <p:nvSpPr>
          <p:cNvPr id="18" name="Shape 13"/>
          <p:cNvSpPr/>
          <p:nvPr/>
        </p:nvSpPr>
        <p:spPr>
          <a:xfrm>
            <a:off x="661475" y="4007842"/>
            <a:ext cx="5339820" cy="1845171"/>
          </a:xfrm>
          <a:prstGeom prst="roundRect">
            <a:avLst>
              <a:gd name="adj" fmla="val 1537"/>
            </a:avLst>
          </a:prstGeom>
          <a:solidFill>
            <a:srgbClr val="EAE8F3"/>
          </a:solidFill>
          <a:ln/>
        </p:spPr>
      </p:sp>
      <p:sp>
        <p:nvSpPr>
          <p:cNvPr id="19" name="Shape 14"/>
          <p:cNvSpPr/>
          <p:nvPr/>
        </p:nvSpPr>
        <p:spPr>
          <a:xfrm>
            <a:off x="850482" y="4196854"/>
            <a:ext cx="567021" cy="567035"/>
          </a:xfrm>
          <a:prstGeom prst="ellipse">
            <a:avLst/>
          </a:prstGeom>
          <a:solidFill>
            <a:srgbClr val="5955E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6450" y="4352727"/>
            <a:ext cx="255085" cy="2550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0482" y="4952901"/>
            <a:ext cx="4961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Return Game</a:t>
            </a:r>
            <a:endParaRPr lang="en-US" sz="1850" dirty="0"/>
          </a:p>
        </p:txBody>
      </p:sp>
      <p:sp>
        <p:nvSpPr>
          <p:cNvPr id="22" name="Text 16"/>
          <p:cNvSpPr/>
          <p:nvPr/>
        </p:nvSpPr>
        <p:spPr>
          <a:xfrm>
            <a:off x="850482" y="5361583"/>
            <a:ext cx="49618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คืนเกม + ตรวจค่าปรับ</a:t>
            </a:r>
            <a:endParaRPr lang="th-TH" sz="1450" dirty="0"/>
          </a:p>
        </p:txBody>
      </p:sp>
      <p:sp>
        <p:nvSpPr>
          <p:cNvPr id="23" name="Shape 17"/>
          <p:cNvSpPr/>
          <p:nvPr/>
        </p:nvSpPr>
        <p:spPr>
          <a:xfrm>
            <a:off x="6190301" y="4007842"/>
            <a:ext cx="5339820" cy="1845171"/>
          </a:xfrm>
          <a:prstGeom prst="roundRect">
            <a:avLst>
              <a:gd name="adj" fmla="val 1537"/>
            </a:avLst>
          </a:prstGeom>
          <a:solidFill>
            <a:srgbClr val="EAE8F3"/>
          </a:solidFill>
          <a:ln/>
        </p:spPr>
      </p:sp>
      <p:sp>
        <p:nvSpPr>
          <p:cNvPr id="24" name="Shape 18"/>
          <p:cNvSpPr/>
          <p:nvPr/>
        </p:nvSpPr>
        <p:spPr>
          <a:xfrm>
            <a:off x="6379308" y="4196854"/>
            <a:ext cx="567021" cy="567035"/>
          </a:xfrm>
          <a:prstGeom prst="ellipse">
            <a:avLst/>
          </a:prstGeom>
          <a:solidFill>
            <a:srgbClr val="5955EB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5276" y="4352727"/>
            <a:ext cx="255085" cy="25509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379308" y="4952901"/>
            <a:ext cx="4961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Keyboard Input</a:t>
            </a:r>
            <a:endParaRPr lang="en-US" sz="1850" dirty="0"/>
          </a:p>
        </p:txBody>
      </p:sp>
      <p:sp>
        <p:nvSpPr>
          <p:cNvPr id="27" name="Text 20"/>
          <p:cNvSpPr/>
          <p:nvPr/>
        </p:nvSpPr>
        <p:spPr>
          <a:xfrm>
            <a:off x="6379308" y="5361583"/>
            <a:ext cx="49618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รับข้อมูลผ่าน Console</a:t>
            </a:r>
            <a:endParaRPr lang="th-TH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37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โครงสร้างระบบ</a:t>
            </a:r>
            <a:endParaRPr lang="th-TH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236391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Layered Architecture</a:t>
            </a:r>
            <a:endParaRPr lang="en-US" sz="18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33201" y="2744291"/>
            <a:ext cx="2175019" cy="272762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949205" y="2958703"/>
            <a:ext cx="16446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Main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4949205" y="3442990"/>
            <a:ext cx="16446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จุดเริ่มต้นโปรแกรม</a:t>
            </a:r>
            <a:endParaRPr lang="th-TH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97227" y="2744291"/>
            <a:ext cx="2175118" cy="272762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313231" y="2958703"/>
            <a:ext cx="164470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GameRentalSystem</a:t>
            </a:r>
            <a:endParaRPr lang="en-US" sz="1850" dirty="0"/>
          </a:p>
        </p:txBody>
      </p:sp>
      <p:sp>
        <p:nvSpPr>
          <p:cNvPr id="10" name="Text 5"/>
          <p:cNvSpPr/>
          <p:nvPr/>
        </p:nvSpPr>
        <p:spPr>
          <a:xfrm>
            <a:off x="7313231" y="3738265"/>
            <a:ext cx="164470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จัดการการทำงานของระบบ</a:t>
            </a:r>
            <a:endParaRPr lang="th-TH" sz="14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61353" y="2744291"/>
            <a:ext cx="2175118" cy="272762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77356" y="2958703"/>
            <a:ext cx="164470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 Layer</a:t>
            </a:r>
            <a:endParaRPr lang="en-US" sz="1850" dirty="0"/>
          </a:p>
        </p:txBody>
      </p:sp>
      <p:sp>
        <p:nvSpPr>
          <p:cNvPr id="13" name="Text 7"/>
          <p:cNvSpPr/>
          <p:nvPr/>
        </p:nvSpPr>
        <p:spPr>
          <a:xfrm>
            <a:off x="9677356" y="3442990"/>
            <a:ext cx="164470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Person, Customer, Game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(PCGame, ConsoleGame, BoardGame)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Rental, Payment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813"/>
            <a:ext cx="10868745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25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ความสัมพันธ์ของ Class</a:t>
            </a:r>
            <a:endParaRPr lang="th-TH" sz="25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172270"/>
            <a:ext cx="4689854" cy="50534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60646" y="2338288"/>
            <a:ext cx="5275924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2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การเชื่อมโยงระหว่าง Class</a:t>
            </a:r>
            <a:endParaRPr lang="th-TH" sz="12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9361" y="2645767"/>
            <a:ext cx="194861" cy="19486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682811" y="2641798"/>
            <a:ext cx="4853759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Inheritance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6682811" y="2934097"/>
            <a:ext cx="4853759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extends Person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09361" y="3292078"/>
            <a:ext cx="194861" cy="19486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682811" y="3288109"/>
            <a:ext cx="4853759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Inheritance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6682811" y="3580408"/>
            <a:ext cx="4853759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PCGame, ConsoleGame, BoardGame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extends </a:t>
            </a:r>
            <a:pPr algn="l" indent="0" marL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Game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09361" y="3938389"/>
            <a:ext cx="194861" cy="19486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682811" y="3934420"/>
            <a:ext cx="4853759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Association</a:t>
            </a:r>
            <a:endParaRPr lang="en-US" sz="1250" dirty="0"/>
          </a:p>
        </p:txBody>
      </p:sp>
      <p:sp>
        <p:nvSpPr>
          <p:cNvPr id="13" name="Text 7"/>
          <p:cNvSpPr/>
          <p:nvPr/>
        </p:nvSpPr>
        <p:spPr>
          <a:xfrm>
            <a:off x="6682811" y="4226719"/>
            <a:ext cx="4853759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th-TH" alt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Rental มี Customer, Game, Payment</a:t>
            </a:r>
            <a:endParaRPr lang="th-TH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09361" y="4584700"/>
            <a:ext cx="194861" cy="19486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682811" y="4580731"/>
            <a:ext cx="4853759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Polymorphism</a:t>
            </a:r>
            <a:endParaRPr lang="en-US" sz="1250" dirty="0"/>
          </a:p>
        </p:txBody>
      </p:sp>
      <p:sp>
        <p:nvSpPr>
          <p:cNvPr id="16" name="Text 9"/>
          <p:cNvSpPr/>
          <p:nvPr/>
        </p:nvSpPr>
        <p:spPr>
          <a:xfrm>
            <a:off x="6682811" y="4873030"/>
            <a:ext cx="4853759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th-TH" alt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จัดการเกมหลายประเภทผ่าน </a:t>
            </a:r>
            <a:pPr algn="l" indent="0" marL="0">
              <a:lnSpc>
                <a:spcPct val="113000"/>
              </a:lnSpc>
              <a:buNone/>
            </a:pPr>
            <a:r>
              <a:rPr lang="th-TH" altLang="en-US" sz="100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ArrayList&lt;Game&gt;</a:t>
            </a:r>
            <a:endParaRPr lang="th-TH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429"/>
            <a:ext cx="10868745" cy="4522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OOP #1 — </a:t>
            </a:r>
            <a:pPr algn="l" indent="0" marL="0">
              <a:lnSpc>
                <a:spcPct val="104000"/>
              </a:lnSpc>
              <a:buNone/>
            </a:pPr>
            <a:r>
              <a:rPr lang="en-US" sz="28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Encapsulation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61475" y="1271588"/>
            <a:ext cx="5257867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4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ควบคุมข้อมูลภายใน Object อย่างไร?</a:t>
            </a:r>
            <a:endParaRPr lang="th-TH" sz="1400" dirty="0"/>
          </a:p>
        </p:txBody>
      </p:sp>
      <p:sp>
        <p:nvSpPr>
          <p:cNvPr id="4" name="Text 2"/>
          <p:cNvSpPr/>
          <p:nvPr/>
        </p:nvSpPr>
        <p:spPr>
          <a:xfrm>
            <a:off x="661475" y="1608336"/>
            <a:ext cx="5257867" cy="408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th-TH" alt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ใช้ </a:t>
            </a:r>
            <a:pPr algn="l" indent="0" marL="0">
              <a:lnSpc>
                <a:spcPct val="118000"/>
              </a:lnSpc>
              <a:buNone/>
            </a:pPr>
            <a:r>
              <a:rPr lang="th-TH" alt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private fields</a:t>
            </a:r>
            <a:pPr algn="l" indent="0" marL="0">
              <a:lnSpc>
                <a:spcPct val="118000"/>
              </a:lnSpc>
              <a:buNone/>
            </a:pPr>
            <a:r>
              <a:rPr lang="th-TH" alt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เพื่อไม่ให้แก้ไขโดยตรงจากภายนอก และใช้ </a:t>
            </a:r>
            <a:pPr algn="l" indent="0" marL="0">
              <a:lnSpc>
                <a:spcPct val="118000"/>
              </a:lnSpc>
              <a:buNone/>
            </a:pPr>
            <a:r>
              <a:rPr lang="th-TH" alt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Method</a:t>
            </a:r>
            <a:pPr algn="l" indent="0" marL="0">
              <a:lnSpc>
                <a:spcPct val="118000"/>
              </a:lnSpc>
              <a:buNone/>
            </a:pPr>
            <a:r>
              <a:rPr lang="th-TH" alt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ควบคุมการเปลี่ยนแปลงสถานะอย่างปลอดภัย</a:t>
            </a:r>
            <a:endParaRPr lang="th-TH" sz="1100" dirty="0"/>
          </a:p>
        </p:txBody>
      </p:sp>
      <p:sp>
        <p:nvSpPr>
          <p:cNvPr id="5" name="Shape 3"/>
          <p:cNvSpPr/>
          <p:nvPr/>
        </p:nvSpPr>
        <p:spPr>
          <a:xfrm>
            <a:off x="6278703" y="1285478"/>
            <a:ext cx="5257867" cy="3994547"/>
          </a:xfrm>
          <a:prstGeom prst="roundRect">
            <a:avLst>
              <a:gd name="adj" fmla="val 543"/>
            </a:avLst>
          </a:prstGeom>
          <a:solidFill>
            <a:srgbClr val="EEEDF2"/>
          </a:solidFill>
          <a:ln/>
        </p:spPr>
      </p:sp>
      <p:sp>
        <p:nvSpPr>
          <p:cNvPr id="6" name="Text 4"/>
          <p:cNvSpPr/>
          <p:nvPr/>
        </p:nvSpPr>
        <p:spPr>
          <a:xfrm>
            <a:off x="6452332" y="1430139"/>
            <a:ext cx="4910610" cy="3705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Game.java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boolean available;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boolean rent() {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(!available) return false;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available = false; // ✓ ควบคุมการเปลี่ยนแปลง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true;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boolean returnGame() {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(available) return false;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available = true;  // ✓ คืนสถานะอย่างปลอดภัย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true;</a:t>
            </a:r>
            <a:endParaRPr lang="th-TH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1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100" dirty="0"/>
          </a:p>
        </p:txBody>
      </p:sp>
      <p:sp>
        <p:nvSpPr>
          <p:cNvPr id="7" name="Shape 5"/>
          <p:cNvSpPr/>
          <p:nvPr/>
        </p:nvSpPr>
        <p:spPr>
          <a:xfrm>
            <a:off x="661475" y="5529263"/>
            <a:ext cx="5379010" cy="786209"/>
          </a:xfrm>
          <a:prstGeom prst="roundRect">
            <a:avLst>
              <a:gd name="adj" fmla="val 2761"/>
            </a:avLst>
          </a:prstGeom>
          <a:solidFill>
            <a:srgbClr val="EAE8F3"/>
          </a:solidFill>
          <a:ln/>
        </p:spPr>
      </p:sp>
      <p:sp>
        <p:nvSpPr>
          <p:cNvPr id="8" name="Text 6"/>
          <p:cNvSpPr/>
          <p:nvPr/>
        </p:nvSpPr>
        <p:spPr>
          <a:xfrm>
            <a:off x="806132" y="5673923"/>
            <a:ext cx="5089695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private field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6132" y="5966420"/>
            <a:ext cx="5089695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th-TH" alt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ไม่เปิดแก้ไขโดยตรง</a:t>
            </a:r>
            <a:endParaRPr lang="th-TH" sz="1100" dirty="0"/>
          </a:p>
        </p:txBody>
      </p:sp>
      <p:sp>
        <p:nvSpPr>
          <p:cNvPr id="10" name="Shape 8"/>
          <p:cNvSpPr/>
          <p:nvPr/>
        </p:nvSpPr>
        <p:spPr>
          <a:xfrm>
            <a:off x="6151210" y="5529263"/>
            <a:ext cx="5379010" cy="786209"/>
          </a:xfrm>
          <a:prstGeom prst="roundRect">
            <a:avLst>
              <a:gd name="adj" fmla="val 2761"/>
            </a:avLst>
          </a:prstGeom>
          <a:solidFill>
            <a:srgbClr val="EAE8F3"/>
          </a:solidFill>
          <a:ln/>
        </p:spPr>
      </p:sp>
      <p:sp>
        <p:nvSpPr>
          <p:cNvPr id="11" name="Text 9"/>
          <p:cNvSpPr/>
          <p:nvPr/>
        </p:nvSpPr>
        <p:spPr>
          <a:xfrm>
            <a:off x="6295867" y="5673923"/>
            <a:ext cx="5089695" cy="226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Method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95867" y="5966420"/>
            <a:ext cx="5089695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th-TH" alt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ควบคุมการเปลี่ยนแปลง</a:t>
            </a:r>
            <a:endParaRPr lang="th-TH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1996"/>
            <a:ext cx="10868745" cy="415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OOP #2 — </a:t>
            </a:r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Inheritance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1475" y="1232495"/>
            <a:ext cx="5272253" cy="4094758"/>
          </a:xfrm>
          <a:prstGeom prst="roundRect">
            <a:avLst>
              <a:gd name="adj" fmla="val 487"/>
            </a:avLst>
          </a:prstGeom>
          <a:solidFill>
            <a:srgbClr val="EEEDF2"/>
          </a:solidFill>
          <a:ln/>
        </p:spPr>
      </p:sp>
      <p:sp>
        <p:nvSpPr>
          <p:cNvPr id="4" name="Text 2"/>
          <p:cNvSpPr/>
          <p:nvPr/>
        </p:nvSpPr>
        <p:spPr>
          <a:xfrm>
            <a:off x="820915" y="1365349"/>
            <a:ext cx="4953372" cy="3829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Person.java (Parent)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abstract class Person {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String name;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String id;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Customer.java (Child)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Customer extends Person {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List&lt;Rental&gt; rentalHistory;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เพิ่มความสามารถเฉพาะ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Game.java (Parent)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abstract class Game { ... }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PCGame     extends Game { ... }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ConsoleGame extends Game { ... }</a:t>
            </a:r>
            <a:endParaRPr lang="th-TH" sz="10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0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BoardGame   extends Game { ... }</a:t>
            </a:r>
            <a:endParaRPr lang="th-TH" sz="1000" dirty="0"/>
          </a:p>
        </p:txBody>
      </p:sp>
      <p:sp>
        <p:nvSpPr>
          <p:cNvPr id="5" name="Text 3"/>
          <p:cNvSpPr/>
          <p:nvPr/>
        </p:nvSpPr>
        <p:spPr>
          <a:xfrm>
            <a:off x="6264317" y="1220788"/>
            <a:ext cx="5272253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ใช้ Inheritance ตรงไหน?</a:t>
            </a:r>
            <a:endParaRPr lang="th-TH" sz="1300" dirty="0"/>
          </a:p>
        </p:txBody>
      </p:sp>
      <p:sp>
        <p:nvSpPr>
          <p:cNvPr id="6" name="Text 4"/>
          <p:cNvSpPr/>
          <p:nvPr/>
        </p:nvSpPr>
        <p:spPr>
          <a:xfrm>
            <a:off x="6264317" y="1521718"/>
            <a:ext cx="5881838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th-TH" alt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 แม่เก็บคุณสมบัติร่วม เพื่อ</a:t>
            </a:r>
            <a:pPr algn="l" indent="0" marL="0">
              <a:lnSpc>
                <a:spcPct val="114000"/>
              </a:lnSpc>
              <a:buNone/>
            </a:pPr>
            <a:r>
              <a:rPr lang="th-TH" altLang="en-US" sz="10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ลดการเขียน Code ซ้ำ</a:t>
            </a:r>
            <a:pPr algn="l" indent="0" marL="0">
              <a:lnSpc>
                <a:spcPct val="114000"/>
              </a:lnSpc>
              <a:buNone/>
            </a:pPr>
            <a:r>
              <a:rPr lang="th-TH" alt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Class ลูกเพิ่มความสามารถเฉพาะของตัวเอง</a:t>
            </a:r>
            <a:endParaRPr lang="th-TH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5537398"/>
            <a:ext cx="5387642" cy="74850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9573" y="5689302"/>
            <a:ext cx="5007643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Person → Customer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89573" y="5952927"/>
            <a:ext cx="5007643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th-TH" alt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สืบทอด name, id และเพิ่ม rentalHistory</a:t>
            </a:r>
            <a:endParaRPr lang="th-TH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42479" y="5537398"/>
            <a:ext cx="5387741" cy="7485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70577" y="5689302"/>
            <a:ext cx="5007743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Game → PCGame / ConsoleGame / BoardGame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370577" y="5952927"/>
            <a:ext cx="5007743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th-TH" alt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สืบทอดคุณสมบัติเกมร่วม แต่ละประเภทมี Logic เฉพาะ</a:t>
            </a:r>
            <a:endParaRPr lang="th-TH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9552"/>
            <a:ext cx="10868745" cy="313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OOP #3 — </a:t>
            </a:r>
            <a:pPr algn="l" indent="0" marL="0">
              <a:lnSpc>
                <a:spcPct val="104000"/>
              </a:lnSpc>
              <a:buNone/>
            </a:pPr>
            <a:r>
              <a:rPr lang="en-US" sz="19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Abstraction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661475" y="986532"/>
            <a:ext cx="5311940" cy="15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9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ซ่อนรายละเอียด กำหนดพฤติกรรมร่วม</a:t>
            </a:r>
            <a:endParaRPr lang="th-TH" sz="950" dirty="0"/>
          </a:p>
        </p:txBody>
      </p:sp>
      <p:sp>
        <p:nvSpPr>
          <p:cNvPr id="4" name="Text 2"/>
          <p:cNvSpPr/>
          <p:nvPr/>
        </p:nvSpPr>
        <p:spPr>
          <a:xfrm>
            <a:off x="661475" y="1196677"/>
            <a:ext cx="5921525" cy="122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th-TH" altLang="en-US" sz="75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 class Game</a:t>
            </a:r>
            <a:pPr algn="l" indent="0" marL="0">
              <a:lnSpc>
                <a:spcPct val="102000"/>
              </a:lnSpc>
              <a:buNone/>
            </a:pPr>
            <a:r>
              <a:rPr lang="th-TH" alt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กำหนดโครงสร้างที่เกม</a:t>
            </a:r>
            <a:pPr algn="l" indent="0" marL="0">
              <a:lnSpc>
                <a:spcPct val="102000"/>
              </a:lnSpc>
              <a:buNone/>
            </a:pPr>
            <a:r>
              <a:rPr lang="th-TH" altLang="en-US" sz="7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ทุกประเภท</a:t>
            </a:r>
            <a:pPr algn="l" indent="0" marL="0">
              <a:lnSpc>
                <a:spcPct val="102000"/>
              </a:lnSpc>
              <a:buNone/>
            </a:pPr>
            <a:r>
              <a:rPr lang="th-TH" alt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ต้องมี แต่ละประเภทกำหนดรายละเอียดการคำนวณค่าเช่าเอง</a:t>
            </a:r>
            <a:endParaRPr lang="th-TH" sz="750" dirty="0"/>
          </a:p>
        </p:txBody>
      </p:sp>
      <p:sp>
        <p:nvSpPr>
          <p:cNvPr id="5" name="Shape 3"/>
          <p:cNvSpPr/>
          <p:nvPr/>
        </p:nvSpPr>
        <p:spPr>
          <a:xfrm>
            <a:off x="6224630" y="993180"/>
            <a:ext cx="5311940" cy="4859238"/>
          </a:xfrm>
          <a:prstGeom prst="roundRect">
            <a:avLst>
              <a:gd name="adj" fmla="val 310"/>
            </a:avLst>
          </a:prstGeom>
          <a:solidFill>
            <a:srgbClr val="EEEDF2"/>
          </a:solidFill>
          <a:ln/>
        </p:spPr>
      </p:sp>
      <p:sp>
        <p:nvSpPr>
          <p:cNvPr id="6" name="Text 4"/>
          <p:cNvSpPr/>
          <p:nvPr/>
        </p:nvSpPr>
        <p:spPr>
          <a:xfrm>
            <a:off x="6345079" y="1093589"/>
            <a:ext cx="5071043" cy="4658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Game.java — Abstract Class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abstract class Game {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String title;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double dailyRate;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protected boolean available;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Abstract Method — บังคับ implement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abstract double calculateRentalFee(int days);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abstract void showInfo();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PCGame.java — Concrete Class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PCGame extends Game {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calculateRentalFee(int days) {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dailyRate * days * 1.0; // ✓ ราคาปกติ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BoardGame.java — Concrete Class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BoardGame extends Game {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double calculateRentalFee(int days) {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dailyRate * days * 0.8; // ✓ ลด 20%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th-TH" sz="7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75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750" dirty="0"/>
          </a:p>
        </p:txBody>
      </p:sp>
      <p:sp>
        <p:nvSpPr>
          <p:cNvPr id="7" name="Shape 5"/>
          <p:cNvSpPr/>
          <p:nvPr/>
        </p:nvSpPr>
        <p:spPr>
          <a:xfrm>
            <a:off x="661475" y="5972274"/>
            <a:ext cx="225915" cy="225921"/>
          </a:xfrm>
          <a:prstGeom prst="roundRect">
            <a:avLst>
              <a:gd name="adj" fmla="val 6667"/>
            </a:avLst>
          </a:prstGeom>
          <a:solidFill>
            <a:srgbClr val="EAE8F3"/>
          </a:solidFill>
          <a:ln/>
        </p:spPr>
      </p:sp>
      <p:sp>
        <p:nvSpPr>
          <p:cNvPr id="8" name="Text 6"/>
          <p:cNvSpPr/>
          <p:nvPr/>
        </p:nvSpPr>
        <p:spPr>
          <a:xfrm>
            <a:off x="699078" y="5991076"/>
            <a:ext cx="150610" cy="188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40669" y="6006703"/>
            <a:ext cx="5121841" cy="15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9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กำหนด Contract</a:t>
            </a:r>
            <a:endParaRPr lang="th-TH" sz="950" dirty="0"/>
          </a:p>
        </p:txBody>
      </p:sp>
      <p:sp>
        <p:nvSpPr>
          <p:cNvPr id="10" name="Text 8"/>
          <p:cNvSpPr/>
          <p:nvPr/>
        </p:nvSpPr>
        <p:spPr>
          <a:xfrm>
            <a:off x="940669" y="6195516"/>
            <a:ext cx="5121841" cy="122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th-TH" alt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บังคับให้ทุก Subclass ต้อง implement </a:t>
            </a:r>
            <a:pPr algn="l" indent="0" marL="0">
              <a:lnSpc>
                <a:spcPct val="102000"/>
              </a:lnSpc>
              <a:buNone/>
            </a:pPr>
            <a:r>
              <a:rPr lang="th-TH" altLang="en-US" sz="75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calculateRentalFee()</a:t>
            </a:r>
            <a:endParaRPr lang="th-TH" sz="750" dirty="0"/>
          </a:p>
        </p:txBody>
      </p:sp>
      <p:sp>
        <p:nvSpPr>
          <p:cNvPr id="11" name="Shape 9"/>
          <p:cNvSpPr/>
          <p:nvPr/>
        </p:nvSpPr>
        <p:spPr>
          <a:xfrm>
            <a:off x="6129184" y="5972274"/>
            <a:ext cx="225915" cy="225921"/>
          </a:xfrm>
          <a:prstGeom prst="roundRect">
            <a:avLst>
              <a:gd name="adj" fmla="val 6667"/>
            </a:avLst>
          </a:prstGeom>
          <a:solidFill>
            <a:srgbClr val="EAE8F3"/>
          </a:solidFill>
          <a:ln/>
        </p:spPr>
      </p:sp>
      <p:sp>
        <p:nvSpPr>
          <p:cNvPr id="12" name="Text 10"/>
          <p:cNvSpPr/>
          <p:nvPr/>
        </p:nvSpPr>
        <p:spPr>
          <a:xfrm>
            <a:off x="6166787" y="5991076"/>
            <a:ext cx="150610" cy="188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8379" y="6006703"/>
            <a:ext cx="5121841" cy="15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9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ซ่อน Implementation</a:t>
            </a:r>
            <a:endParaRPr lang="th-TH" sz="950" dirty="0"/>
          </a:p>
        </p:txBody>
      </p:sp>
      <p:sp>
        <p:nvSpPr>
          <p:cNvPr id="14" name="Text 12"/>
          <p:cNvSpPr/>
          <p:nvPr/>
        </p:nvSpPr>
        <p:spPr>
          <a:xfrm>
            <a:off x="6408379" y="6195516"/>
            <a:ext cx="5121841" cy="122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th-TH" alt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ผู้ใช้งานไม่ต้องรู้ว่าแต่ละเกมคำนวณอย่างไร</a:t>
            </a:r>
            <a:endParaRPr lang="th-TH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3917"/>
            <a:ext cx="10868745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OOP #4 — </a:t>
            </a:r>
            <a:pPr algn="l" indent="0" marL="0">
              <a:lnSpc>
                <a:spcPct val="104000"/>
              </a:lnSpc>
              <a:buNone/>
            </a:pPr>
            <a:r>
              <a:rPr lang="en-US" sz="3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Polymorphism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61475" y="1463477"/>
            <a:ext cx="5228995" cy="3569097"/>
          </a:xfrm>
          <a:prstGeom prst="roundRect">
            <a:avLst>
              <a:gd name="adj" fmla="val 708"/>
            </a:avLst>
          </a:prstGeom>
          <a:solidFill>
            <a:srgbClr val="EEEDF2"/>
          </a:solidFill>
          <a:ln/>
        </p:spPr>
      </p:sp>
      <p:sp>
        <p:nvSpPr>
          <p:cNvPr id="4" name="Text 2"/>
          <p:cNvSpPr/>
          <p:nvPr/>
        </p:nvSpPr>
        <p:spPr>
          <a:xfrm>
            <a:off x="863479" y="1631752"/>
            <a:ext cx="4824986" cy="32325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GameRentalSystem.java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ArrayList&lt;Game&gt; games = new ArrayList&lt;&gt;();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games.add(new PCGame("Elden Ring", 50));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games.add(new ConsoleGame("FIFA 25", 40));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games.add(new BoardGame("Catan", 30));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✓ Method เดียวกัน ทำงานต่างกัน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(Game game : games) {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game.showInfo();           // เรียก Method ของ Object จริง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game.calculateRentalFee(3); // คำนวณตามประเภทจริง</a:t>
            </a:r>
            <a:endParaRPr lang="th-TH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th-TH" altLang="en-US" sz="1300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300" dirty="0"/>
          </a:p>
        </p:txBody>
      </p:sp>
      <p:sp>
        <p:nvSpPr>
          <p:cNvPr id="5" name="Text 3"/>
          <p:cNvSpPr/>
          <p:nvPr/>
        </p:nvSpPr>
        <p:spPr>
          <a:xfrm>
            <a:off x="6307575" y="1444724"/>
            <a:ext cx="5228995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6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Method เดียวกัน แต่ทำงานแตกต่างกัน</a:t>
            </a:r>
            <a:endParaRPr lang="th-TH" sz="1650" dirty="0"/>
          </a:p>
        </p:txBody>
      </p:sp>
      <p:sp>
        <p:nvSpPr>
          <p:cNvPr id="6" name="Text 4"/>
          <p:cNvSpPr/>
          <p:nvPr/>
        </p:nvSpPr>
        <p:spPr>
          <a:xfrm>
            <a:off x="6307575" y="1857673"/>
            <a:ext cx="5228995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th-TH" alt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Java เลือก Method ของ Object จริงโดยอัตโนมัติ ณ Runtime ทำให้จัดการเกมหลายประเภทด้วย Code ชุดเดียว</a:t>
            </a:r>
            <a:endParaRPr lang="th-TH" sz="1300" dirty="0"/>
          </a:p>
        </p:txBody>
      </p:sp>
      <p:sp>
        <p:nvSpPr>
          <p:cNvPr id="7" name="Shape 5"/>
          <p:cNvSpPr/>
          <p:nvPr/>
        </p:nvSpPr>
        <p:spPr>
          <a:xfrm>
            <a:off x="661475" y="5369917"/>
            <a:ext cx="3522971" cy="944066"/>
          </a:xfrm>
          <a:prstGeom prst="roundRect">
            <a:avLst>
              <a:gd name="adj" fmla="val 2675"/>
            </a:avLst>
          </a:prstGeom>
          <a:solidFill>
            <a:srgbClr val="EAE8F3"/>
          </a:solidFill>
          <a:ln/>
        </p:spPr>
      </p:sp>
      <p:sp>
        <p:nvSpPr>
          <p:cNvPr id="8" name="Text 6"/>
          <p:cNvSpPr/>
          <p:nvPr/>
        </p:nvSpPr>
        <p:spPr>
          <a:xfrm>
            <a:off x="829746" y="5538192"/>
            <a:ext cx="3186430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PCGame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9746" y="5891113"/>
            <a:ext cx="3186430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th-TH" altLang="en-US" sz="130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showInfo()</a:t>
            </a:r>
            <a:pPr algn="l" indent="0" marL="0">
              <a:lnSpc>
                <a:spcPct val="126000"/>
              </a:lnSpc>
              <a:buNone/>
            </a:pPr>
            <a:r>
              <a:rPr lang="th-TH" alt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แสดง Spec PC</a:t>
            </a:r>
            <a:endParaRPr lang="th-TH" sz="1300" dirty="0"/>
          </a:p>
        </p:txBody>
      </p:sp>
      <p:sp>
        <p:nvSpPr>
          <p:cNvPr id="10" name="Shape 8"/>
          <p:cNvSpPr/>
          <p:nvPr/>
        </p:nvSpPr>
        <p:spPr>
          <a:xfrm>
            <a:off x="4334362" y="5369917"/>
            <a:ext cx="3522971" cy="944066"/>
          </a:xfrm>
          <a:prstGeom prst="roundRect">
            <a:avLst>
              <a:gd name="adj" fmla="val 2675"/>
            </a:avLst>
          </a:prstGeom>
          <a:solidFill>
            <a:srgbClr val="EAE8F3"/>
          </a:solidFill>
          <a:ln/>
        </p:spPr>
      </p:sp>
      <p:sp>
        <p:nvSpPr>
          <p:cNvPr id="11" name="Text 9"/>
          <p:cNvSpPr/>
          <p:nvPr/>
        </p:nvSpPr>
        <p:spPr>
          <a:xfrm>
            <a:off x="4502633" y="5538192"/>
            <a:ext cx="3186430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ConsoleGame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502633" y="5891113"/>
            <a:ext cx="3186430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th-TH" altLang="en-US" sz="130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showInfo()</a:t>
            </a:r>
            <a:pPr algn="l" indent="0" marL="0">
              <a:lnSpc>
                <a:spcPct val="126000"/>
              </a:lnSpc>
              <a:buNone/>
            </a:pPr>
            <a:r>
              <a:rPr lang="th-TH" alt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แสดง Platform</a:t>
            </a:r>
            <a:endParaRPr lang="th-TH" sz="1300" dirty="0"/>
          </a:p>
        </p:txBody>
      </p:sp>
      <p:sp>
        <p:nvSpPr>
          <p:cNvPr id="13" name="Shape 11"/>
          <p:cNvSpPr/>
          <p:nvPr/>
        </p:nvSpPr>
        <p:spPr>
          <a:xfrm>
            <a:off x="8007249" y="5369917"/>
            <a:ext cx="3522971" cy="944066"/>
          </a:xfrm>
          <a:prstGeom prst="roundRect">
            <a:avLst>
              <a:gd name="adj" fmla="val 2675"/>
            </a:avLst>
          </a:prstGeom>
          <a:solidFill>
            <a:srgbClr val="EAE8F3"/>
          </a:solidFill>
          <a:ln/>
        </p:spPr>
      </p:sp>
      <p:sp>
        <p:nvSpPr>
          <p:cNvPr id="14" name="Text 12"/>
          <p:cNvSpPr/>
          <p:nvPr/>
        </p:nvSpPr>
        <p:spPr>
          <a:xfrm>
            <a:off x="8175520" y="5538192"/>
            <a:ext cx="3186430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BoardGame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175520" y="5891113"/>
            <a:ext cx="3186430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th-TH" altLang="en-US" sz="1300" dirty="0">
                <a:solidFill>
                  <a:srgbClr val="49495A"/>
                </a:solidFill>
                <a:highlight>
                  <a:srgbClr val="EEED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showInfo()</a:t>
            </a:r>
            <a:pPr algn="l" indent="0" marL="0">
              <a:lnSpc>
                <a:spcPct val="126000"/>
              </a:lnSpc>
              <a:buNone/>
            </a:pPr>
            <a:r>
              <a:rPr lang="th-TH" alt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แสดงจำนวนผู้เล่น</a:t>
            </a:r>
            <a:endParaRPr lang="th-TH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AE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72380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37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การทำงานของระบบ</a:t>
            </a:r>
            <a:endParaRPr lang="th-TH" sz="3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597918"/>
            <a:ext cx="945035" cy="113407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795517" y="1786930"/>
            <a:ext cx="516281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สมัครสมาชิก</a:t>
            </a:r>
            <a:endParaRPr lang="th-TH" sz="1850" dirty="0"/>
          </a:p>
        </p:txBody>
      </p:sp>
      <p:sp>
        <p:nvSpPr>
          <p:cNvPr id="7" name="Text 3"/>
          <p:cNvSpPr/>
          <p:nvPr/>
        </p:nvSpPr>
        <p:spPr>
          <a:xfrm>
            <a:off x="1795517" y="2195612"/>
            <a:ext cx="516281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Register Customer → เลือก Customer</a:t>
            </a:r>
            <a:endParaRPr lang="th-TH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731988"/>
            <a:ext cx="945035" cy="113407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795517" y="2921000"/>
            <a:ext cx="516281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เลือกเกม</a:t>
            </a:r>
            <a:endParaRPr lang="th-TH" sz="1850" dirty="0"/>
          </a:p>
        </p:txBody>
      </p:sp>
      <p:sp>
        <p:nvSpPr>
          <p:cNvPr id="10" name="Text 5"/>
          <p:cNvSpPr/>
          <p:nvPr/>
        </p:nvSpPr>
        <p:spPr>
          <a:xfrm>
            <a:off x="1795517" y="3329682"/>
            <a:ext cx="516281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เลือก Game → กำหนดจำนวนวัน</a:t>
            </a:r>
            <a:endParaRPr lang="th-TH" sz="14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3866059"/>
            <a:ext cx="945035" cy="113407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795517" y="4055070"/>
            <a:ext cx="516281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ชำระเงิน</a:t>
            </a:r>
            <a:endParaRPr lang="th-TH" sz="1850" dirty="0"/>
          </a:p>
        </p:txBody>
      </p:sp>
      <p:sp>
        <p:nvSpPr>
          <p:cNvPr id="13" name="Text 7"/>
          <p:cNvSpPr/>
          <p:nvPr/>
        </p:nvSpPr>
        <p:spPr>
          <a:xfrm>
            <a:off x="1795517" y="4463752"/>
            <a:ext cx="516281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เลือก Payment Method → สร้าง Rental</a:t>
            </a:r>
            <a:endParaRPr lang="th-TH" sz="14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5000129"/>
            <a:ext cx="945035" cy="113407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795517" y="5189141"/>
            <a:ext cx="516281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18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คืนเกม</a:t>
            </a:r>
            <a:endParaRPr lang="th-TH" sz="1850" dirty="0"/>
          </a:p>
        </p:txBody>
      </p:sp>
      <p:sp>
        <p:nvSpPr>
          <p:cNvPr id="16" name="Text 9"/>
          <p:cNvSpPr/>
          <p:nvPr/>
        </p:nvSpPr>
        <p:spPr>
          <a:xfrm>
            <a:off x="1795517" y="5597823"/>
            <a:ext cx="516281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th-TH" alt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Return Game → ตรวจสอบค่าปรับ</a:t>
            </a:r>
            <a:endParaRPr lang="th-TH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26765"/>
            <a:ext cx="10868745" cy="572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th-TH" altLang="en-US" sz="36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สรุป — OOP ในโปรแกรม</a:t>
            </a:r>
            <a:endParaRPr lang="th-TH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1553666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5170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แนวคิด OOP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3C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Class / Method ที่ใช้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403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3C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ประโยชน์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403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3CCF"/>
                    </a:solidFill>
                  </a:tcPr>
                </a:tc>
              </a:tr>
              <a:tr h="5201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Encapsulation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private available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rent()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returnGame()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ป้องกันการแก้ไขข้อมูลโดยตรง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</a:tr>
              <a:tr h="10970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Inheritance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 extends Person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PCGame/ConsoleGame/BoardGame extends Game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ลด Code ซ้ำ แบ่งหน้าที่ชัดเจน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</a:tr>
              <a:tr h="80861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Abstraction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abstract class Person, Game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calculateRentalFee()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กำหนด Contract บังคับ Subclass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</a:tr>
              <a:tr h="8054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Polymorphism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ArrayList&lt;Game&gt;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showInfo()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calculateRentalFee()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9495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 ยืดหยุ่น รองรับประเภทใหม่ได้ง่าย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83112" marR="183112" marT="6350" marB="6350" anchor="ctr">
                    <a:lnL w="12700" cap="flat" cmpd="sng" algn="ctr">
                      <a:solidFill>
                        <a:srgbClr val="FBFA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61475" y="5514280"/>
            <a:ext cx="10868745" cy="716855"/>
          </a:xfrm>
          <a:prstGeom prst="roundRect">
            <a:avLst>
              <a:gd name="adj" fmla="val 3832"/>
            </a:avLst>
          </a:prstGeom>
          <a:solidFill>
            <a:srgbClr val="D7D6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29" y="5767586"/>
            <a:ext cx="228793" cy="18305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56376" y="5737324"/>
            <a:ext cx="10700375" cy="288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th-TH" alt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ทั้ง 4 แนวคิด OOP ถูกนำมาใช้ร่วมกัน</a:t>
            </a:r>
            <a:pPr algn="l" indent="0" marL="0">
              <a:lnSpc>
                <a:spcPct val="131000"/>
              </a:lnSpc>
              <a:buNone/>
            </a:pPr>
            <a:r>
              <a:rPr lang="th-TH" alt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เพื่อให้ Code เป็นระบบ แยกหน้าที่ชัดเจน และขยายระบบได้ง่าย</a:t>
            </a:r>
            <a:endParaRPr lang="th-TH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2026-09-14T15:02:31Z</dcterms:created>
  <dcterms:modified xsi:type="dcterms:W3CDTF">2026-09-14T15:02:31Z</dcterms:modified>
</cp:coreProperties>
</file>